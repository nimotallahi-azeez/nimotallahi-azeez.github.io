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DDDD5-BA7F-5CA6-A465-6BFD9AA3C7A3}" v="59" dt="2026-03-24T18:54:40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-726" y="-1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12C2-D65F-4682-ACFD-ACBD9CF980B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345BD-2E64-48DE-A433-91FE0AD86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0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BD2C-083F-1C91-853B-4F2458E8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57B67-8CD2-72FF-D87F-4EA057CEB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3FD3D-6527-373E-838C-1DC99EA35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A176D-DB64-C0E2-7535-8D481C685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2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52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2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7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33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75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1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91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80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16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9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6B7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Refusal: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Literacy for Justice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4572000" cy="45720"/>
          </a:xfrm>
          <a:prstGeom prst="rect">
            <a:avLst/>
          </a:prstGeom>
          <a:solidFill>
            <a:srgbClr val="1A8FA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Bias, the Coded Gaze, and the Educator's Ethical Responsibility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7A9BAE"/>
                </a:solidFill>
                <a:latin typeface="Calibri"/>
                <a:ea typeface="Calibri"/>
                <a:cs typeface="Calibri"/>
              </a:rPr>
              <a:t>NIMOTALLAHI AZEEZ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A9BAE"/>
                </a:solidFill>
                <a:latin typeface="Calibri"/>
                <a:ea typeface="Calibri"/>
                <a:cs typeface="Calibri"/>
              </a:rPr>
              <a:t>PC 5950 | Master's Portfolio — Digital Artifact 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4983480"/>
            <a:ext cx="8823960" cy="160020"/>
          </a:xfrm>
          <a:prstGeom prst="rect">
            <a:avLst/>
          </a:prstGeom>
          <a:solidFill>
            <a:srgbClr val="E8A8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657600"/>
          </a:xfrm>
          <a:prstGeom prst="rect">
            <a:avLst/>
          </a:prstGeom>
          <a:solidFill>
            <a:srgbClr val="0F6B7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Coded Gaze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systems mirror and amplify social inequities through biased design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1143000"/>
            <a:ext cx="2011680" cy="365760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7373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Harms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42032" y="30632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in hiring, healthcare, education, and criminal justice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26864" y="1143000"/>
            <a:ext cx="2011680" cy="365760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26864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7373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Debate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18304" y="30632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refusing AI in classrooms is misguided and ultimately harmful to students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03136" y="1143000"/>
            <a:ext cx="2011680" cy="3657600"/>
          </a:xfrm>
          <a:prstGeom prst="rect">
            <a:avLst/>
          </a:prstGeom>
          <a:solidFill>
            <a:srgbClr val="1D6A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803136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7373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3136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as Justice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94576" y="30632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 to critically engage, question, and challenge AI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" y="3291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Scientist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Activist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Algorithmic Justice League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49040" y="274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 Who Changed AI Ethics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749040" y="1005840"/>
            <a:ext cx="5120640" cy="1371600"/>
          </a:xfrm>
          <a:prstGeom prst="rect">
            <a:avLst/>
          </a:prstGeom>
          <a:solidFill>
            <a:srgbClr val="EDF4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1920" y="1097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graduate student, Buolamwini discovered that an AI system could not detect her dark-skinned face, she had to wear a white mask to be recognized. This personal experience ignited a landmark investigation into the biases embedded in AI systems.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49040" y="2514600"/>
            <a:ext cx="5120640" cy="1188720"/>
          </a:xfrm>
          <a:prstGeom prst="rect">
            <a:avLst/>
          </a:prstGeom>
          <a:solidFill>
            <a:srgbClr val="0F6B7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3192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0" y="2926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Facial recognition AI misidentifies darker-skinned individuals at significantly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higher rates; a direct result of biased training data and non-representative 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teams.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49040" y="3840480"/>
            <a:ext cx="5120640" cy="1005840"/>
          </a:xfrm>
          <a:prstGeom prst="rect">
            <a:avLst/>
          </a:prstGeom>
          <a:solidFill>
            <a:srgbClr val="FFF8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3840480"/>
            <a:ext cx="73152" cy="1005840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have to accept digital humiliation as the tax for innovation."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31920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Joy Buolamwini (2024)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B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Coded Gaze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1280160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artificial intelligence mirrors and amplifies social injustices through biased design and deployment — reflecting the values, priorities, and prejudices of its creators, who are typically a narrow, unrepresentative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743200" cy="233172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606040"/>
            <a:ext cx="274320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by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reflect the values and blind spots of their creators — and most design teams lack diverse representation.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606040"/>
            <a:ext cx="2743200" cy="233172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606040"/>
            <a:ext cx="274320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Harm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biases are often hidden inside code, making them difficult to identify and challenge without AI literacy.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743200" cy="233172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06040"/>
            <a:ext cx="274320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biases disproportionately harm marginalized communities across healthcare, hiring, education, and beyond.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Algorithmic Bias Causes Real Harm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828800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Resume-screening algorithms trained on historical data systematically filter out candidates from underrepresented groups before a human ever reviews their application.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51560"/>
            <a:ext cx="91440" cy="1828800"/>
          </a:xfrm>
          <a:prstGeom prst="rect">
            <a:avLst/>
          </a:prstGeom>
          <a:solidFill>
            <a:srgbClr val="1D6A4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6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proctoring tools and grading systems apply uneven standards, disadvantaging students of color and those with disabilities.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8600" y="3017520"/>
            <a:ext cx="91440" cy="18288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54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1148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health tools trained on skewed datasets produce inequitable care recommendations, widening existing racial and socioeconomic disparities.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017520"/>
            <a:ext cx="91440" cy="18288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Justice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and risk-assessment tools misidentify Black individuals at alarming rates, contributing to wrongful stops, arrests, and sentencing.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Argument — and Why It Falls Short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84048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Refusal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Fernandes &amp; McIntyre (2025)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"Recoveries and Reconsiderations"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Generative AI threatens linguistic justice and marginalized student voices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Refusing GenAI in classrooms is framed as a form of resistance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 tools reproduce dominant power structures and should be rejected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E8F5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06240" cy="73152"/>
          </a:xfrm>
          <a:prstGeom prst="rect">
            <a:avLst/>
          </a:prstGeom>
          <a:solidFill>
            <a:srgbClr val="1D6A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Refusal Fails Students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on Buolamwini (2023, 2024)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Students will encounter AI in academic, professional, and civic life regardless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Without education, they remain vulnerable to manipulation they cannot recognize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Buolamwini promotes engagement and reform — not rejection of AI systems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Refusal perpetuates inequity; AI literacy is the equitable intervention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2194560"/>
            <a:ext cx="640080" cy="64008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6A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as Justice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743200" cy="169164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2743200" cy="73152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Coded Gaze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0040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AI systems reflect the biases, values, and blind spots of their creators and training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27248" y="1051560"/>
            <a:ext cx="2743200" cy="169164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27248" y="1051560"/>
            <a:ext cx="2743200" cy="73152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Real-World Harms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6440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concrete examples of how biased AI affects hiring, education, healthcare, and criminal justice.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051560"/>
            <a:ext cx="2743200" cy="169164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71616" y="1051560"/>
            <a:ext cx="2743200" cy="73152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188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Critical Engagement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08776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students how to question AI outputs, recognize bias, and advocate for ethical technology use.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463040" y="2971800"/>
            <a:ext cx="2743200" cy="169164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63040" y="2971800"/>
            <a:ext cx="2743200" cy="73152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1089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03120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Digital Humiliation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600200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Buolamwini's framework: students do not have to accept harm as the inevitable cost of innovation.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07408" y="2971800"/>
            <a:ext cx="2743200" cy="169164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07408" y="2971800"/>
            <a:ext cx="2743200" cy="73152"/>
          </a:xfrm>
          <a:prstGeom prst="rect">
            <a:avLst/>
          </a:prstGeom>
          <a:solidFill>
            <a:srgbClr val="0F6B7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31089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3108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Through Education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44568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is justice work — giving students tools to challenge, not be controlled by, algorithmic systems.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Educator's 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594360"/>
          </a:xfrm>
          <a:prstGeom prst="rect">
            <a:avLst/>
          </a:prstGeom>
          <a:solidFill>
            <a:srgbClr val="0F6B7C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1155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Literacy Into the Curriculum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students to identify bias, evaluate AI outputs critically, and understand the social consequences of algorithmic systems. This is not optional — it is a pedagogical imperative.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051560"/>
            <a:ext cx="2743200" cy="594360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12" name="Text 9"/>
          <p:cNvSpPr/>
          <p:nvPr/>
        </p:nvSpPr>
        <p:spPr>
          <a:xfrm>
            <a:off x="315468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1155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Coded Gaze Visible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29184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Buolamwini's framework to show students the real people harmed by biased AI. Bring in case studies from facial recognition, hiring, healthcare, and criminal justice.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076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051560"/>
            <a:ext cx="2743200" cy="594360"/>
          </a:xfrm>
          <a:prstGeom prst="rect">
            <a:avLst/>
          </a:prstGeom>
          <a:solidFill>
            <a:srgbClr val="1D6A40"/>
          </a:solidFill>
          <a:ln/>
        </p:spPr>
      </p:sp>
      <p:sp>
        <p:nvSpPr>
          <p:cNvPr id="18" name="Text 14"/>
          <p:cNvSpPr/>
          <p:nvPr/>
        </p:nvSpPr>
        <p:spPr>
          <a:xfrm>
            <a:off x="608076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11556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Ethical Collaboration with AI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1792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to engage with AI tools responsibly — questioning results, recognizing limitations, and pushing for systemic change rather than passive acceptance.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F6B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82396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046720" cy="1371600"/>
          </a:xfrm>
          <a:prstGeom prst="rect">
            <a:avLst/>
          </a:prstGeom>
          <a:solidFill>
            <a:srgbClr val="122A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" cy="1371600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AI does not protect students from algorithmic bias — it leaves them unprepared to recognize, challenge, or resist it. The answer is not avoidance. The answer is critical engagement.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0F6B7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is real, systemic, and actively harming marginalized communities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36392"/>
            <a:ext cx="320040" cy="320040"/>
          </a:xfrm>
          <a:prstGeom prst="ellipse">
            <a:avLst/>
          </a:prstGeom>
          <a:solidFill>
            <a:srgbClr val="0F6B7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36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Buolamwini's 'coded gaze' framework exposes AI's invisible inequities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320040" cy="320040"/>
          </a:xfrm>
          <a:prstGeom prst="ellipse">
            <a:avLst/>
          </a:prstGeom>
          <a:solidFill>
            <a:srgbClr val="0F6B7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124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misrepresents Buolamwini's vision of engagement and reform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88536"/>
            <a:ext cx="320040" cy="320040"/>
          </a:xfrm>
          <a:prstGeom prst="ellipse">
            <a:avLst/>
          </a:prstGeom>
          <a:solidFill>
            <a:srgbClr val="0F6B7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88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have an ethical responsibility to teach AI literacy as justice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Buolamwini, J. (2023). Unmasking AI. Random House.  |  Fernandes &amp; McIntyre (2025). Peitho, 27(2).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8823960" cy="160020"/>
          </a:xfrm>
          <a:prstGeom prst="rect">
            <a:avLst/>
          </a:prstGeom>
          <a:solidFill>
            <a:srgbClr val="E8A8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9A5A0-8D20-D004-76E3-192C9709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F297C8-378C-126F-BD90-8D677F1286A3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6B7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AE7D11-8EC2-5856-B1B3-E12D29613B25}"/>
              </a:ext>
            </a:extLst>
          </p:cNvPr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E8A82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CA2694-95D3-CB3F-184E-24D923B99332}"/>
              </a:ext>
            </a:extLst>
          </p:cNvPr>
          <p:cNvSpPr/>
          <p:nvPr/>
        </p:nvSpPr>
        <p:spPr>
          <a:xfrm>
            <a:off x="59436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Refusal:</a:t>
            </a:r>
            <a:endParaRPr lang="en-US" sz="4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7CBF77-C65C-DDBD-BB37-B53F399E6E6C}"/>
              </a:ext>
            </a:extLst>
          </p:cNvPr>
          <p:cNvSpPr/>
          <p:nvPr/>
        </p:nvSpPr>
        <p:spPr>
          <a:xfrm>
            <a:off x="594360" y="1600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Literacy for Justice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0E78AA-1C75-09EB-D3E0-1D53693EF99C}"/>
              </a:ext>
            </a:extLst>
          </p:cNvPr>
          <p:cNvSpPr/>
          <p:nvPr/>
        </p:nvSpPr>
        <p:spPr>
          <a:xfrm>
            <a:off x="594360" y="2377440"/>
            <a:ext cx="4572000" cy="45720"/>
          </a:xfrm>
          <a:prstGeom prst="rect">
            <a:avLst/>
          </a:prstGeom>
          <a:solidFill>
            <a:srgbClr val="1A8FA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63CD31-361E-4852-C64C-6982DD6FE02C}"/>
              </a:ext>
            </a:extLst>
          </p:cNvPr>
          <p:cNvSpPr/>
          <p:nvPr/>
        </p:nvSpPr>
        <p:spPr>
          <a:xfrm>
            <a:off x="59436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Bias, the Coded Gaze, and the Educator's Ethical Responsibility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85E9FB-8B65-CC27-61F9-643FE6DFBD0C}"/>
              </a:ext>
            </a:extLst>
          </p:cNvPr>
          <p:cNvSpPr/>
          <p:nvPr/>
        </p:nvSpPr>
        <p:spPr>
          <a:xfrm>
            <a:off x="59436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7A9BAE"/>
                </a:solidFill>
                <a:latin typeface="Calibri"/>
                <a:ea typeface="Calibri"/>
                <a:cs typeface="Calibri"/>
              </a:rPr>
              <a:t>NIMOTALLAHI AZEEZ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A9BAE"/>
                </a:solidFill>
                <a:latin typeface="Calibri"/>
                <a:ea typeface="Calibri"/>
                <a:cs typeface="Calibri"/>
              </a:rPr>
              <a:t>PC 5950 | Master's Portfolio — Digital Artifact 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52BB297-B47E-8129-F620-9FA3CAB779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DFDA57F1-007E-6827-F850-B8217E0C18B9}"/>
              </a:ext>
            </a:extLst>
          </p:cNvPr>
          <p:cNvSpPr/>
          <p:nvPr/>
        </p:nvSpPr>
        <p:spPr>
          <a:xfrm>
            <a:off x="320040" y="4983480"/>
            <a:ext cx="8823960" cy="160020"/>
          </a:xfrm>
          <a:prstGeom prst="rect">
            <a:avLst/>
          </a:prstGeom>
          <a:solidFill>
            <a:srgbClr val="E8A820"/>
          </a:solidFill>
          <a:ln/>
        </p:spPr>
      </p:sp>
    </p:spTree>
    <p:extLst>
      <p:ext uri="{BB962C8B-B14F-4D97-AF65-F5344CB8AC3E}">
        <p14:creationId xmlns:p14="http://schemas.microsoft.com/office/powerpoint/2010/main" val="121163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856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Refusal: Teaching AI Literacy for Justice</dc:title>
  <dc:subject>PptxGenJS Presentation</dc:subject>
  <dc:creator>Nimotallahi Azeez</dc:creator>
  <cp:lastModifiedBy>MAHI PC</cp:lastModifiedBy>
  <cp:revision>30</cp:revision>
  <dcterms:created xsi:type="dcterms:W3CDTF">2026-02-19T15:52:49Z</dcterms:created>
  <dcterms:modified xsi:type="dcterms:W3CDTF">2026-03-24T18:55:49Z</dcterms:modified>
</cp:coreProperties>
</file>